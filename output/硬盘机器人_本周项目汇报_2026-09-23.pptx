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依据：src/replace_disk_robot/contact/force_processing.py；src/replace_disk_robot/control/admittance.py；src/replace_disk_robot/control/admittance_motion.py；tool/collect_ft_gravity_data.py；tool/identify_ft_payload.py。聚焦测试 28 项通过（2026-09-23）。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依据：src/replace_disk_robot/contact/force_processing.py，SensorWrenchCompensator._gravity/tare/compensate。公式中 s 为力传感器符号约定；R_BS 为传感器到基座旋转；r_SC 为传感器原点到负载质心；w_g 为重力力与力矩拼接。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依据：src/replace_disk_robot/control/admittance.py；src/replace_disk_robot/control/admittance_motion.py；src/replace_disk_robot/control/servo.py。控制器输出为笛卡尔位姿而非关节命令。无本周实机闭环性能结论。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依据：tool/collect_ft_gravity_data.py；tool/identify_ft_payload.py；tool/gravity_test01_identified.json（2026-09-22）。静态试采 13 姿态、3270 样本。结果 JSON 的 warnings 指出重力方向相对基座竖直偏差 15.935 度，超过脚本 15 度警示阈值；拟合值仅作试采汇报。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尾页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01</a:t>
            </a:r>
            <a:endParaRPr sz="3600" b="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服务器换硬盘机器人项目本周进展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9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8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本周工作概览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2" name="overview-1-head"/>
          <p:cNvSpPr>
            <a:spLocks noGrp="1"/>
          </p:cNvSpPr>
          <p:nvPr/>
        </p:nvSpPr>
        <p:spPr>
          <a:xfrm>
            <a:off x="1123950" y="2428875"/>
            <a:ext cx="666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1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六维力传感器重力补偿</a:t>
            </a:r>
            <a:endParaRPr sz="2100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3" name="overview-1-body"/>
          <p:cNvSpPr>
            <a:spLocks noGrp="1"/>
          </p:cNvSpPr>
          <p:nvPr/>
        </p:nvSpPr>
        <p:spPr>
          <a:xfrm>
            <a:off x="1123950" y="2809875"/>
            <a:ext cx="10001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按传感器姿态预测负载力和力矩，扣除零偏后输出外力。</a:t>
            </a:r>
            <a:endParaRPr sz="172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4" name="subtle-divider"/>
          <p:cNvSpPr>
            <a:spLocks noGrp="1"/>
          </p:cNvSpPr>
          <p:nvPr/>
        </p:nvSpPr>
        <p:spPr>
          <a:xfrm>
            <a:off x="1095375" y="3238500"/>
            <a:ext cx="9972675" cy="12383"/>
          </a:xfrm>
          <a:prstGeom prst="rect">
            <a:avLst/>
          </a:prstGeom>
          <a:solidFill>
            <a:srgbClr val="D8E1EA"/>
          </a:solidFill>
          <a:ln w="0">
            <a:noFill/>
          </a:ln>
        </p:spPr>
      </p:sp>
      <p:sp>
        <p:nvSpPr>
          <p:cNvPr id="65" name="overview-2-head"/>
          <p:cNvSpPr>
            <a:spLocks noGrp="1"/>
          </p:cNvSpPr>
          <p:nvPr/>
        </p:nvSpPr>
        <p:spPr>
          <a:xfrm>
            <a:off x="1123950" y="3448050"/>
            <a:ext cx="666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1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六轴导纳控制</a:t>
            </a:r>
            <a:endParaRPr sz="2100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6" name="overview-2-body"/>
          <p:cNvSpPr>
            <a:spLocks noGrp="1"/>
          </p:cNvSpPr>
          <p:nvPr/>
        </p:nvSpPr>
        <p:spPr>
          <a:xfrm>
            <a:off x="1123950" y="3829050"/>
            <a:ext cx="10001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将外力转换为笛卡尔位姿偏移，接入键盘目标与 Servo。</a:t>
            </a:r>
            <a:endParaRPr sz="172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7" name="subtle-divider"/>
          <p:cNvSpPr>
            <a:spLocks noGrp="1"/>
          </p:cNvSpPr>
          <p:nvPr/>
        </p:nvSpPr>
        <p:spPr>
          <a:xfrm>
            <a:off x="1095375" y="4257675"/>
            <a:ext cx="9972675" cy="12383"/>
          </a:xfrm>
          <a:prstGeom prst="rect">
            <a:avLst/>
          </a:prstGeom>
          <a:solidFill>
            <a:srgbClr val="D8E1EA"/>
          </a:solidFill>
          <a:ln w="0">
            <a:noFill/>
          </a:ln>
        </p:spPr>
      </p:sp>
      <p:sp>
        <p:nvSpPr>
          <p:cNvPr id="68" name="overview-3-head"/>
          <p:cNvSpPr>
            <a:spLocks noGrp="1"/>
          </p:cNvSpPr>
          <p:nvPr/>
        </p:nvSpPr>
        <p:spPr>
          <a:xfrm>
            <a:off x="1123950" y="4467225"/>
            <a:ext cx="666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1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负载辨识脚本</a:t>
            </a:r>
            <a:endParaRPr sz="2100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9" name="overview-3-body"/>
          <p:cNvSpPr>
            <a:spLocks noGrp="1"/>
          </p:cNvSpPr>
          <p:nvPr/>
        </p:nvSpPr>
        <p:spPr>
          <a:xfrm>
            <a:off x="1123950" y="4848225"/>
            <a:ext cx="10001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采集多姿态静态原始力数据，拟合质量、质心和传感器零偏。</a:t>
            </a:r>
            <a:endParaRPr sz="172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70" name="overview-test"/>
          <p:cNvSpPr>
            <a:spLocks noGrp="1"/>
          </p:cNvSpPr>
          <p:nvPr/>
        </p:nvSpPr>
        <p:spPr>
          <a:xfrm>
            <a:off x="1123950" y="5857875"/>
            <a:ext cx="7239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586A7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75" b="0">
                <a:solidFill>
                  <a:srgbClr val="586A7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相关单元测试：28 项通过</a:t>
            </a:r>
            <a:endParaRPr sz="1575" b="0">
              <a:solidFill>
                <a:srgbClr val="586A7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02</a:t>
            </a:r>
            <a:endParaRPr sz="3600" b="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服务器换硬盘机器人项目本周进展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5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76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六维力传感器重力补偿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2" name="grav-explain"/>
          <p:cNvSpPr>
            <a:spLocks noGrp="1"/>
          </p:cNvSpPr>
          <p:nvPr/>
        </p:nvSpPr>
        <p:spPr>
          <a:xfrm>
            <a:off x="1095375" y="2428875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800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用传感器姿态把基座重力投影到传感器系，再计算负载力矩。</a:t>
            </a:r>
            <a:endParaRPr sz="1800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80" y="3124835"/>
            <a:ext cx="3808730" cy="360680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080" y="3816350"/>
            <a:ext cx="2165350" cy="273050"/>
          </a:xfrm>
          <a:prstGeom prst="rect">
            <a:avLst/>
          </a:prstGeom>
        </p:spPr>
      </p:pic>
      <p:sp>
        <p:nvSpPr>
          <p:cNvPr id="65" name="grav-tare"/>
          <p:cNvSpPr>
            <a:spLocks noGrp="1"/>
          </p:cNvSpPr>
          <p:nvPr/>
        </p:nvSpPr>
        <p:spPr>
          <a:xfrm>
            <a:off x="1095375" y="5095875"/>
            <a:ext cx="10096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586A7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650" b="0">
                <a:solidFill>
                  <a:srgbClr val="586A7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无接触姿态下执行 tare，分离固定零偏；负载变化后重新 tare。</a:t>
            </a:r>
            <a:endParaRPr sz="1650" b="0">
              <a:solidFill>
                <a:srgbClr val="586A7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6" name="grav-flow"/>
          <p:cNvSpPr>
            <a:spLocks noGrp="1"/>
          </p:cNvSpPr>
          <p:nvPr/>
        </p:nvSpPr>
        <p:spPr>
          <a:xfrm>
            <a:off x="1095375" y="5676900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72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原始六维力   →   姿态相关重力预测   →   扣除零偏与重力   →   外力</a:t>
            </a:r>
            <a:endParaRPr sz="1725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03</a:t>
            </a:r>
            <a:endParaRPr sz="3600" b="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服务器换硬盘机器人项目本周进展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77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六轴导纳控制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2" name="adm-main"/>
          <p:cNvSpPr>
            <a:spLocks noGrp="1"/>
          </p:cNvSpPr>
          <p:nvPr/>
        </p:nvSpPr>
        <p:spPr>
          <a:xfrm>
            <a:off x="1095375" y="2428875"/>
            <a:ext cx="10001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87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外力驱动末端相对名义轨迹产生顺应位移。</a:t>
            </a:r>
            <a:endParaRPr sz="187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3281680"/>
            <a:ext cx="2797175" cy="301625"/>
          </a:xfrm>
          <a:prstGeom prst="rect">
            <a:avLst/>
          </a:prstGeom>
        </p:spPr>
      </p:pic>
      <p:sp>
        <p:nvSpPr>
          <p:cNvPr id="64" name="adm-1"/>
          <p:cNvSpPr>
            <a:spLocks noGrp="1"/>
          </p:cNvSpPr>
          <p:nvPr/>
        </p:nvSpPr>
        <p:spPr>
          <a:xfrm>
            <a:off x="1095375" y="4143375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M、D、K 按六轴分别设置；采用半隐式欧拉更新位姿偏移。</a:t>
            </a:r>
            <a:endParaRPr sz="172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5" name="adm-2"/>
          <p:cNvSpPr>
            <a:spLocks noGrp="1"/>
          </p:cNvSpPr>
          <p:nvPr/>
        </p:nvSpPr>
        <p:spPr>
          <a:xfrm>
            <a:off x="1095375" y="4676775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键盘输入生成名义位姿，导纳偏移叠加后交给笛卡尔 Servo。</a:t>
            </a:r>
            <a:endParaRPr sz="172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6" name="adm-3"/>
          <p:cNvSpPr>
            <a:spLocks noGrp="1"/>
          </p:cNvSpPr>
          <p:nvPr/>
        </p:nvSpPr>
        <p:spPr>
          <a:xfrm>
            <a:off x="1095375" y="5210175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已有速度与采样周期限制；实际运动仍由 Servo 检查约束。</a:t>
            </a:r>
            <a:endParaRPr sz="172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7" name="adm-foot"/>
          <p:cNvSpPr>
            <a:spLocks noGrp="1"/>
          </p:cNvSpPr>
          <p:nvPr/>
        </p:nvSpPr>
        <p:spPr>
          <a:xfrm>
            <a:off x="1095375" y="58864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586A7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75" b="0">
                <a:solidFill>
                  <a:srgbClr val="586A7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当前验证：控制逻辑与接口单元测试</a:t>
            </a:r>
            <a:endParaRPr sz="1575" b="0">
              <a:solidFill>
                <a:srgbClr val="586A7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04</a:t>
            </a:r>
            <a:endParaRPr sz="3600" b="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服务器换硬盘机器人项目本周进展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7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78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数据采集与负载辨识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2" name="id-collect"/>
          <p:cNvSpPr>
            <a:spLocks noGrp="1"/>
          </p:cNvSpPr>
          <p:nvPr/>
        </p:nvSpPr>
        <p:spPr>
          <a:xfrm>
            <a:off x="1095375" y="2381250"/>
            <a:ext cx="10096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静止窗口采集：关节状态、原始六维力、传感器朝向同步写入 CSV。</a:t>
            </a:r>
            <a:endParaRPr sz="172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3084195"/>
            <a:ext cx="4364355" cy="325755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830" y="3800475"/>
            <a:ext cx="1746250" cy="365760"/>
          </a:xfrm>
          <a:prstGeom prst="rect">
            <a:avLst/>
          </a:prstGeom>
        </p:spPr>
      </p:pic>
      <p:sp>
        <p:nvSpPr>
          <p:cNvPr id="66" name="id-data"/>
          <p:cNvSpPr>
            <a:spLocks noGrp="1"/>
          </p:cNvSpPr>
          <p:nvPr/>
        </p:nvSpPr>
        <p:spPr>
          <a:xfrm>
            <a:off x="1095375" y="4867275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87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试采数据：13 组姿态 / 3270 条样本</a:t>
            </a:r>
            <a:endParaRPr sz="1875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7" name="id-fit"/>
          <p:cNvSpPr>
            <a:spLocks noGrp="1"/>
          </p:cNvSpPr>
          <p:nvPr/>
        </p:nvSpPr>
        <p:spPr>
          <a:xfrm>
            <a:off x="1095375" y="5286375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7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质量估计 0.691 kg；力残差 RMS 0.193 N；力矩残差 RMS 0.027 N·m。</a:t>
            </a:r>
            <a:endParaRPr sz="157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8" name="id-caveat"/>
          <p:cNvSpPr>
            <a:spLocks noGrp="1"/>
          </p:cNvSpPr>
          <p:nvPr/>
        </p:nvSpPr>
        <p:spPr>
          <a:xfrm>
            <a:off x="1095375" y="58293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586A7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00" b="0">
                <a:solidFill>
                  <a:srgbClr val="586A7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重力方向偏差 15.9°，需复查坐标系与传感器标定后再采用参数。</a:t>
            </a:r>
            <a:endParaRPr sz="1500" b="0">
              <a:solidFill>
                <a:srgbClr val="586A7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WPS 演示</Application>
  <PresentationFormat>Converted Presentation</PresentationFormat>
  <Paragraphs>62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Arial</vt:lpstr>
      <vt:lpstr>Nimbus Roman No9 L</vt:lpstr>
      <vt:lpstr>Noto Sans CJK SC</vt:lpstr>
      <vt:lpstr>微软雅黑</vt:lpstr>
      <vt:lpstr>Droid Sans Fallback</vt:lpstr>
      <vt:lpstr>Calibri</vt:lpstr>
      <vt:lpstr>微软雅黑</vt:lpstr>
      <vt:lpstr>宋体</vt:lpstr>
      <vt:lpstr>Arial Unicode MS</vt:lpstr>
      <vt:lpstr>Noto Serif CJK SC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</cp:lastModifiedBy>
  <cp:revision>1</cp:revision>
  <dcterms:created xsi:type="dcterms:W3CDTF">2026-09-23T09:04:40Z</dcterms:created>
  <dcterms:modified xsi:type="dcterms:W3CDTF">2026-09-23T09:04:40Z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E6AAABDCF6F394E72896B36AA30DE0F0_42</vt:lpwstr>
  </property>
  <property fmtid="{D5CDD505-2E9C-101B-9397-08002B2CF9AE}" pid="3" name="KSOProductBuildVer">
    <vt:lpwstr>2052-12.1.2.25882</vt:lpwstr>
  </property>
</Properties>
</file>