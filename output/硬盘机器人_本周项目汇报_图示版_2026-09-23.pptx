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58" r:id="rId7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依据：src/replace_disk_robot/contact/force_processing.py；src/replace_disk_robot/control/admittance.py；src/replace_disk_robot/control/admittance_motion.py；tool/collect_ft_gravity_data.py；tool/identify_ft_payload.py。聚焦测试 28 项通过（2026-09-23）。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依据：src/replace_disk_robot/contact/force_processing.py，SensorWrenchCompensator._gravity/tare/compensate。右侧是当前代码处理链的示意图。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依据：tool/gravity_test01.csv、tool/gravity_test01_identified.json、tool/identify_ft_payload.py。13 个有效静态姿态，每姿态以原始三轴力中位数求模长；补偿曲线用同一批数据拟合的 h_B 和 b_f 回代计算 ||f_i - R_i^T h_B - b_f||。这是同数据回代，不是留出集或独立实验。原始范围 6.45–13.63 N，补偿后残差范围 0.15–0.61 N。两图纵轴量程不同。辨识的重力方向偏差 15.9 度，参数仍需复查。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依据：src/replace_disk_robot/control/admittance.py；src/replace_disk_robot/control/admittance_motion.py；src/replace_disk_robot/control/servo.py。右侧流程为当前代码的参考生成链，非实机闭环性能图。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尾页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media" Target="../media/media1.mp4"/><Relationship Id="rId4" Type="http://schemas.openxmlformats.org/officeDocument/2006/relationships/video" Target="../media/media1.mp4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01</a:t>
            </a:r>
            <a:endParaRPr sz="3600" b="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服务器换硬盘机器人项目本周进展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1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82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本周工作概览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2" name="overview-1-head"/>
          <p:cNvSpPr>
            <a:spLocks noGrp="1"/>
          </p:cNvSpPr>
          <p:nvPr/>
        </p:nvSpPr>
        <p:spPr>
          <a:xfrm>
            <a:off x="1123950" y="2428875"/>
            <a:ext cx="666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1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六维力传感器重力补偿</a:t>
            </a:r>
            <a:endParaRPr sz="2100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3" name="overview-1-body"/>
          <p:cNvSpPr>
            <a:spLocks noGrp="1"/>
          </p:cNvSpPr>
          <p:nvPr/>
        </p:nvSpPr>
        <p:spPr>
          <a:xfrm>
            <a:off x="1123950" y="2809875"/>
            <a:ext cx="10001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按传感器姿态预测负载力和力矩，扣除零偏后输出外力。</a:t>
            </a:r>
            <a:endParaRPr sz="17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4" name="subtle-divider"/>
          <p:cNvSpPr>
            <a:spLocks noGrp="1"/>
          </p:cNvSpPr>
          <p:nvPr/>
        </p:nvSpPr>
        <p:spPr>
          <a:xfrm>
            <a:off x="1095375" y="3238500"/>
            <a:ext cx="9972675" cy="12383"/>
          </a:xfrm>
          <a:prstGeom prst="rect">
            <a:avLst/>
          </a:prstGeom>
          <a:solidFill>
            <a:srgbClr val="D8E1EA"/>
          </a:solidFill>
          <a:ln w="0">
            <a:noFill/>
          </a:ln>
        </p:spPr>
      </p:sp>
      <p:sp>
        <p:nvSpPr>
          <p:cNvPr id="65" name="overview-2-head"/>
          <p:cNvSpPr>
            <a:spLocks noGrp="1"/>
          </p:cNvSpPr>
          <p:nvPr/>
        </p:nvSpPr>
        <p:spPr>
          <a:xfrm>
            <a:off x="1123950" y="3448050"/>
            <a:ext cx="666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1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六轴导纳控制</a:t>
            </a:r>
            <a:endParaRPr sz="2100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6" name="overview-2-body"/>
          <p:cNvSpPr>
            <a:spLocks noGrp="1"/>
          </p:cNvSpPr>
          <p:nvPr/>
        </p:nvSpPr>
        <p:spPr>
          <a:xfrm>
            <a:off x="1123950" y="3829050"/>
            <a:ext cx="10001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将外力转换为笛卡尔位姿偏移，接入键盘目标与 Servo。</a:t>
            </a:r>
            <a:endParaRPr sz="17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7" name="subtle-divider"/>
          <p:cNvSpPr>
            <a:spLocks noGrp="1"/>
          </p:cNvSpPr>
          <p:nvPr/>
        </p:nvSpPr>
        <p:spPr>
          <a:xfrm>
            <a:off x="1095375" y="4257675"/>
            <a:ext cx="9972675" cy="12383"/>
          </a:xfrm>
          <a:prstGeom prst="rect">
            <a:avLst/>
          </a:prstGeom>
          <a:solidFill>
            <a:srgbClr val="D8E1EA"/>
          </a:solidFill>
          <a:ln w="0">
            <a:noFill/>
          </a:ln>
        </p:spPr>
      </p:sp>
      <p:sp>
        <p:nvSpPr>
          <p:cNvPr id="68" name="overview-3-head"/>
          <p:cNvSpPr>
            <a:spLocks noGrp="1"/>
          </p:cNvSpPr>
          <p:nvPr/>
        </p:nvSpPr>
        <p:spPr>
          <a:xfrm>
            <a:off x="1123950" y="4467225"/>
            <a:ext cx="6667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1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负载辨识脚本</a:t>
            </a:r>
            <a:endParaRPr sz="2100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9" name="overview-3-body"/>
          <p:cNvSpPr>
            <a:spLocks noGrp="1"/>
          </p:cNvSpPr>
          <p:nvPr/>
        </p:nvSpPr>
        <p:spPr>
          <a:xfrm>
            <a:off x="1123950" y="4848225"/>
            <a:ext cx="10001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采集多姿态静态原始力数据，拟合质量、质心和传感器零偏。</a:t>
            </a:r>
            <a:endParaRPr sz="17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02</a:t>
            </a:r>
            <a:endParaRPr sz="3600" b="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服务器换硬盘机器人项目本周进展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87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六维力传感器重力补偿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2" name="grav-explain"/>
          <p:cNvSpPr>
            <a:spLocks noGrp="1"/>
          </p:cNvSpPr>
          <p:nvPr/>
        </p:nvSpPr>
        <p:spPr>
          <a:xfrm>
            <a:off x="1095375" y="2438400"/>
            <a:ext cx="53816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650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650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传感器姿态决定负载重力在测量坐标系中的投影。</a:t>
            </a:r>
            <a:endParaRPr sz="1800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pic>
        <p:nvPicPr>
          <p:cNvPr id="92" name="图片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80" y="3183255"/>
            <a:ext cx="3176905" cy="381000"/>
          </a:xfrm>
          <a:prstGeom prst="rect">
            <a:avLst/>
          </a:prstGeom>
        </p:spPr>
      </p:pic>
      <p:pic>
        <p:nvPicPr>
          <p:cNvPr id="93" name="图片 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765" y="3962400"/>
            <a:ext cx="3025140" cy="378460"/>
          </a:xfrm>
          <a:prstGeom prst="rect">
            <a:avLst/>
          </a:prstGeom>
        </p:spPr>
      </p:pic>
      <p:sp>
        <p:nvSpPr>
          <p:cNvPr id="65" name="grav-tare"/>
          <p:cNvSpPr>
            <a:spLocks noGrp="1"/>
          </p:cNvSpPr>
          <p:nvPr/>
        </p:nvSpPr>
        <p:spPr>
          <a:xfrm>
            <a:off x="1095375" y="4924425"/>
            <a:ext cx="53816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75" b="0">
                <a:solidFill>
                  <a:srgbClr val="586A7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75" b="0">
                <a:solidFill>
                  <a:srgbClr val="586A7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无接触时 tare 标定零偏；换载荷后重新 tare。</a:t>
            </a:r>
            <a:endParaRPr sz="1650" b="0">
              <a:solidFill>
                <a:srgbClr val="586A7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6" name="grav-flow"/>
          <p:cNvSpPr>
            <a:spLocks noGrp="1"/>
          </p:cNvSpPr>
          <p:nvPr/>
        </p:nvSpPr>
        <p:spPr>
          <a:xfrm>
            <a:off x="1095375" y="5562600"/>
            <a:ext cx="5334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7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输出六维外力，供导纳控制使用。</a:t>
            </a:r>
            <a:endParaRPr sz="1725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71" name="visual-divider"/>
          <p:cNvSpPr>
            <a:spLocks noGrp="1"/>
          </p:cNvSpPr>
          <p:nvPr/>
        </p:nvSpPr>
        <p:spPr>
          <a:xfrm>
            <a:off x="6610350" y="2381250"/>
            <a:ext cx="12383" cy="3829050"/>
          </a:xfrm>
          <a:prstGeom prst="rect">
            <a:avLst/>
          </a:prstGeom>
          <a:solidFill>
            <a:srgbClr val="D8E1EA"/>
          </a:solidFill>
          <a:ln w="0">
            <a:noFill/>
          </a:ln>
        </p:spPr>
      </p:sp>
      <p:sp>
        <p:nvSpPr>
          <p:cNvPr id="72" name="force-diagram-title"/>
          <p:cNvSpPr>
            <a:spLocks noGrp="1"/>
          </p:cNvSpPr>
          <p:nvPr/>
        </p:nvSpPr>
        <p:spPr>
          <a:xfrm>
            <a:off x="7019925" y="2381250"/>
            <a:ext cx="40386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87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六维力处理链</a:t>
            </a:r>
            <a:endParaRPr sz="1875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73" name="force-stage-1"/>
          <p:cNvSpPr>
            <a:spLocks noGrp="1"/>
          </p:cNvSpPr>
          <p:nvPr/>
        </p:nvSpPr>
        <p:spPr>
          <a:xfrm>
            <a:off x="7019925" y="2971800"/>
            <a:ext cx="4038600" cy="552450"/>
          </a:xfrm>
          <a:prstGeom prst="roundRect">
            <a:avLst>
              <a:gd name="adj" fmla="val 13793"/>
            </a:avLst>
          </a:prstGeom>
          <a:solidFill>
            <a:srgbClr val="F3F8FD"/>
          </a:solidFill>
          <a:ln w="11430">
            <a:solidFill>
              <a:srgbClr val="B8D4EC"/>
            </a:solidFill>
            <a:prstDash val="solid"/>
          </a:ln>
        </p:spPr>
        <p:txBody>
          <a:bodyPr wrap="none" lIns="76200" tIns="19050" rIns="76200" bIns="19050" anchor="ctr">
            <a:noAutofit/>
          </a:bodyPr>
          <a:lstStyle/>
          <a:p>
            <a:pPr algn="ctr">
              <a:defRPr sz="157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7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原始六维力 + 传感器姿态</a:t>
            </a:r>
            <a:endParaRPr sz="1575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74" name="force-arrow-1"/>
          <p:cNvSpPr>
            <a:spLocks noGrp="1"/>
          </p:cNvSpPr>
          <p:nvPr/>
        </p:nvSpPr>
        <p:spPr>
          <a:xfrm>
            <a:off x="8782050" y="3600450"/>
            <a:ext cx="4953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0070C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950" b="1">
                <a:solidFill>
                  <a:srgbClr val="0070C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↓</a:t>
            </a:r>
            <a:endParaRPr sz="1950" b="1">
              <a:solidFill>
                <a:srgbClr val="0070C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75" name="force-stage-2"/>
          <p:cNvSpPr>
            <a:spLocks noGrp="1"/>
          </p:cNvSpPr>
          <p:nvPr/>
        </p:nvSpPr>
        <p:spPr>
          <a:xfrm>
            <a:off x="7019925" y="4029075"/>
            <a:ext cx="4038600" cy="552450"/>
          </a:xfrm>
          <a:prstGeom prst="roundRect">
            <a:avLst>
              <a:gd name="adj" fmla="val 13793"/>
            </a:avLst>
          </a:prstGeom>
          <a:solidFill>
            <a:srgbClr val="F3F8FD"/>
          </a:solidFill>
          <a:ln w="11430">
            <a:solidFill>
              <a:srgbClr val="B8D4EC"/>
            </a:solidFill>
            <a:prstDash val="solid"/>
          </a:ln>
        </p:spPr>
        <p:txBody>
          <a:bodyPr wrap="none" lIns="76200" tIns="19050" rIns="76200" bIns="19050" anchor="ctr">
            <a:noAutofit/>
          </a:bodyPr>
          <a:lstStyle/>
          <a:p>
            <a:pPr algn="ctr">
              <a:defRPr sz="157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7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零偏与负载重力预测</a:t>
            </a:r>
            <a:endParaRPr sz="1575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76" name="force-arrow-2"/>
          <p:cNvSpPr>
            <a:spLocks noGrp="1"/>
          </p:cNvSpPr>
          <p:nvPr/>
        </p:nvSpPr>
        <p:spPr>
          <a:xfrm>
            <a:off x="8782050" y="4657725"/>
            <a:ext cx="4953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0070C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950" b="1">
                <a:solidFill>
                  <a:srgbClr val="0070C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↓</a:t>
            </a:r>
            <a:endParaRPr sz="1950" b="1">
              <a:solidFill>
                <a:srgbClr val="0070C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77" name="force-stage-3"/>
          <p:cNvSpPr>
            <a:spLocks noGrp="1"/>
          </p:cNvSpPr>
          <p:nvPr/>
        </p:nvSpPr>
        <p:spPr>
          <a:xfrm>
            <a:off x="7019925" y="5086350"/>
            <a:ext cx="4038600" cy="552450"/>
          </a:xfrm>
          <a:prstGeom prst="roundRect">
            <a:avLst>
              <a:gd name="adj" fmla="val 13793"/>
            </a:avLst>
          </a:prstGeom>
          <a:solidFill>
            <a:srgbClr val="F3F8FD"/>
          </a:solidFill>
          <a:ln w="11430">
            <a:solidFill>
              <a:srgbClr val="B8D4EC"/>
            </a:solidFill>
            <a:prstDash val="solid"/>
          </a:ln>
        </p:spPr>
        <p:txBody>
          <a:bodyPr wrap="none" lIns="76200" tIns="19050" rIns="76200" bIns="19050" anchor="ctr">
            <a:noAutofit/>
          </a:bodyPr>
          <a:lstStyle/>
          <a:p>
            <a:pPr algn="ctr">
              <a:defRPr sz="157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7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补偿后外力  w_ext</a:t>
            </a:r>
            <a:endParaRPr sz="1575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04</a:t>
            </a:r>
            <a:endParaRPr sz="3600" b="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服务器换硬盘机器人项目本周进展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8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89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数据采集与负载辨识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2" name="id-collect"/>
          <p:cNvSpPr>
            <a:spLocks noGrp="1"/>
          </p:cNvSpPr>
          <p:nvPr/>
        </p:nvSpPr>
        <p:spPr>
          <a:xfrm>
            <a:off x="1095375" y="2400300"/>
            <a:ext cx="538162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00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静止窗口同步记录原始力、关节与传感器姿态。</a:t>
            </a:r>
            <a:endParaRPr sz="17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pic>
        <p:nvPicPr>
          <p:cNvPr id="94" name="图片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745" y="3100705"/>
            <a:ext cx="3444875" cy="357505"/>
          </a:xfrm>
          <a:prstGeom prst="rect">
            <a:avLst/>
          </a:prstGeom>
        </p:spPr>
      </p:pic>
      <p:pic>
        <p:nvPicPr>
          <p:cNvPr id="95" name="图片 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080" y="3747770"/>
            <a:ext cx="1711325" cy="324485"/>
          </a:xfrm>
          <a:prstGeom prst="rect">
            <a:avLst/>
          </a:prstGeom>
        </p:spPr>
      </p:pic>
      <p:sp>
        <p:nvSpPr>
          <p:cNvPr id="66" name="id-data"/>
          <p:cNvSpPr>
            <a:spLocks noGrp="1"/>
          </p:cNvSpPr>
          <p:nvPr/>
        </p:nvSpPr>
        <p:spPr>
          <a:xfrm>
            <a:off x="1095375" y="4838700"/>
            <a:ext cx="538162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725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试采：13 组姿态，3270 条样本</a:t>
            </a:r>
            <a:endParaRPr sz="1875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7" name="id-fit"/>
          <p:cNvSpPr>
            <a:spLocks noGrp="1"/>
          </p:cNvSpPr>
          <p:nvPr/>
        </p:nvSpPr>
        <p:spPr>
          <a:xfrm>
            <a:off x="1095375" y="5238750"/>
            <a:ext cx="5381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7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7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质量估计 0.691 kg</a:t>
            </a:r>
            <a:endParaRPr sz="157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8" name="id-caveat"/>
          <p:cNvSpPr>
            <a:spLocks noGrp="1"/>
          </p:cNvSpPr>
          <p:nvPr/>
        </p:nvSpPr>
        <p:spPr>
          <a:xfrm>
            <a:off x="1095375" y="5943600"/>
            <a:ext cx="53816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425" b="0">
                <a:solidFill>
                  <a:srgbClr val="586A7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425" b="0">
                <a:solidFill>
                  <a:srgbClr val="586A7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重力方向偏差 15.9°</a:t>
            </a:r>
            <a:endParaRPr sz="1500" b="0">
              <a:solidFill>
                <a:srgbClr val="586A7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73" name="visual-divider"/>
          <p:cNvSpPr>
            <a:spLocks noGrp="1"/>
          </p:cNvSpPr>
          <p:nvPr/>
        </p:nvSpPr>
        <p:spPr>
          <a:xfrm>
            <a:off x="6610350" y="2381250"/>
            <a:ext cx="12383" cy="3829050"/>
          </a:xfrm>
          <a:prstGeom prst="rect">
            <a:avLst/>
          </a:prstGeom>
          <a:solidFill>
            <a:srgbClr val="D8E1EA"/>
          </a:solidFill>
          <a:ln w="0">
            <a:noFill/>
          </a:ln>
        </p:spPr>
      </p:sp>
      <p:sp>
        <p:nvSpPr>
          <p:cNvPr id="74" name="id-fit-rms"/>
          <p:cNvSpPr>
            <a:spLocks noGrp="1"/>
          </p:cNvSpPr>
          <p:nvPr/>
        </p:nvSpPr>
        <p:spPr>
          <a:xfrm>
            <a:off x="1095375" y="5581650"/>
            <a:ext cx="53816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4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拟合 RMS：力 0.193 N，力矩 0.027 N·m</a:t>
            </a:r>
            <a:endParaRPr sz="14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75" name="plot-raw-title"/>
          <p:cNvSpPr>
            <a:spLocks noGrp="1"/>
          </p:cNvSpPr>
          <p:nvPr/>
        </p:nvSpPr>
        <p:spPr>
          <a:xfrm>
            <a:off x="6915150" y="2371725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采集原始力模长（N）</a:t>
            </a:r>
            <a:endParaRPr sz="1500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475" y="2694249"/>
            <a:ext cx="4248150" cy="1402827"/>
          </a:xfrm>
          <a:prstGeom prst="rect">
            <a:avLst/>
          </a:prstGeom>
        </p:spPr>
      </p:pic>
      <p:sp>
        <p:nvSpPr>
          <p:cNvPr id="77" name="plot-comp-title"/>
          <p:cNvSpPr>
            <a:spLocks noGrp="1"/>
          </p:cNvSpPr>
          <p:nvPr/>
        </p:nvSpPr>
        <p:spPr>
          <a:xfrm>
            <a:off x="6915150" y="421005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00" b="1">
                <a:solidFill>
                  <a:srgbClr val="003B90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补偿后残差力模长（N）</a:t>
            </a:r>
            <a:endParaRPr sz="1500" b="1">
              <a:solidFill>
                <a:srgbClr val="003B90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475" y="4532574"/>
            <a:ext cx="4248150" cy="14028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600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03</a:t>
            </a:r>
            <a:endParaRPr sz="3600" b="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服务器换硬盘机器人项目本周进展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8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89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六轴导纳控制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2" name="adm-main"/>
          <p:cNvSpPr>
            <a:spLocks noGrp="1"/>
          </p:cNvSpPr>
          <p:nvPr/>
        </p:nvSpPr>
        <p:spPr>
          <a:xfrm>
            <a:off x="1095375" y="2428875"/>
            <a:ext cx="53816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725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外力驱动末端产生顺应位移。</a:t>
            </a:r>
            <a:endParaRPr sz="187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pic>
        <p:nvPicPr>
          <p:cNvPr id="94" name="图片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455" y="3358515"/>
            <a:ext cx="2623185" cy="327660"/>
          </a:xfrm>
          <a:prstGeom prst="rect">
            <a:avLst/>
          </a:prstGeom>
        </p:spPr>
      </p:pic>
      <p:sp>
        <p:nvSpPr>
          <p:cNvPr id="64" name="adm-1"/>
          <p:cNvSpPr>
            <a:spLocks noGrp="1"/>
          </p:cNvSpPr>
          <p:nvPr/>
        </p:nvSpPr>
        <p:spPr>
          <a:xfrm>
            <a:off x="1095375" y="4076700"/>
            <a:ext cx="53816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00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M、D、K 六轴独立设置。</a:t>
            </a:r>
            <a:endParaRPr sz="17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5" name="adm-2"/>
          <p:cNvSpPr>
            <a:spLocks noGrp="1"/>
          </p:cNvSpPr>
          <p:nvPr/>
        </p:nvSpPr>
        <p:spPr>
          <a:xfrm>
            <a:off x="1095375" y="4600575"/>
            <a:ext cx="53816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00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偏移叠加到名义位姿，再交给 Servo。</a:t>
            </a:r>
            <a:endParaRPr sz="17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6" name="adm-3"/>
          <p:cNvSpPr>
            <a:spLocks noGrp="1"/>
          </p:cNvSpPr>
          <p:nvPr/>
        </p:nvSpPr>
        <p:spPr>
          <a:xfrm>
            <a:off x="1095375" y="5124450"/>
            <a:ext cx="53816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00" b="0">
                <a:solidFill>
                  <a:srgbClr val="20334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速度、周期及运动约束由现有模块检查。</a:t>
            </a:r>
            <a:endParaRPr sz="1725" b="0">
              <a:solidFill>
                <a:srgbClr val="20334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7" name="adm-foot"/>
          <p:cNvSpPr>
            <a:spLocks noGrp="1"/>
          </p:cNvSpPr>
          <p:nvPr/>
        </p:nvSpPr>
        <p:spPr>
          <a:xfrm>
            <a:off x="1095375" y="5876925"/>
            <a:ext cx="5381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00" b="0">
                <a:solidFill>
                  <a:srgbClr val="586A7B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endParaRPr sz="1575" b="0">
              <a:solidFill>
                <a:srgbClr val="586A7B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pic>
        <p:nvPicPr>
          <p:cNvPr id="9" name="Peek 2026-09-23 17-38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228590" y="2475865"/>
            <a:ext cx="5353050" cy="3638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WPS 演示</Application>
  <PresentationFormat>Converted Presentation</PresentationFormat>
  <Paragraphs>76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Arial</vt:lpstr>
      <vt:lpstr>Nimbus Roman No9 L</vt:lpstr>
      <vt:lpstr>Noto Sans CJK SC</vt:lpstr>
      <vt:lpstr>微软雅黑</vt:lpstr>
      <vt:lpstr>Droid Sans Fallback</vt:lpstr>
      <vt:lpstr>Calibri</vt:lpstr>
      <vt:lpstr>微软雅黑</vt:lpstr>
      <vt:lpstr>宋体</vt:lpstr>
      <vt:lpstr>Arial Unicode MS</vt:lpstr>
      <vt:lpstr>Noto Serif CJK SC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</cp:lastModifiedBy>
  <cp:revision>1</cp:revision>
  <dcterms:created xsi:type="dcterms:W3CDTF">2026-09-23T09:43:13Z</dcterms:created>
  <dcterms:modified xsi:type="dcterms:W3CDTF">2026-09-23T09:43:13Z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DAE72B4780630ADE319FB36ABBE7CA9C_42</vt:lpwstr>
  </property>
  <property fmtid="{D5CDD505-2E9C-101B-9397-08002B2CF9AE}" pid="3" name="KSOProductBuildVer">
    <vt:lpwstr>2052-12.1.2.25882</vt:lpwstr>
  </property>
</Properties>
</file>